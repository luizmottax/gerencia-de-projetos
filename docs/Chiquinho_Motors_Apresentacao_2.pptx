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— FRANCISCO (~30 s). Aguardar a atenção da sala antes de começar.
"Boa tarde. Na primeira apresentação mostramos O QUE é o Chiquinho Motors. Hoje mostramos COMO o projeto é gerenciado: as áreas de Integração e de Escopo do PMBOK, com os artefatos reais do nosso projeto — tudo está no repositório, na pasta docs/gerenciamento.
Eu sou o Francisco, esse é o Luiz e o Alex."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— FRANCISCO (~30 s). Apontar a linha de fases e depois os números.
"Recapitulando: as fases F0 a F5 estão concluídas e aceitas — catálogo, carrinho, agendamento e o painel administrativo completo. A F6, qualidade e publicação, está pronta: falta só colocar no ar.
Isso dá 97% dos pacotes de produto, com 94 testes automatizados. E registramos 10 mudanças ao longo do caminho — vamos mostrar como elas foram controladas."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— FRANCISCO (~1 min 30 s).
"O Termo de Abertura formaliza o projeto. Ele traz a justificativa: concessionárias que gerenciam veículos, peças e serviços em planilhas separadas perdem até 30% das vendas de peças e serviços.
O objetivo é um sistema web que integra os quatro negócios num só banco relacional, desdobrado em cinco objetivos SMART — um por grande entrega.
As restrições: prazo até dezembro, custo zero e a stack definida. E a autoridade: o professor é o patrocinador e o Luiz é o gerente do projeto — é ele quem aprova as mudanças de baixo impacto.
O termo também traz os marcos e os riscos de alto nível."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— FRANCISCO (~1 min 30 s).
"O Plano de Gerenciamento integra tudo. O ciclo de vida é iterativo, em 7 fases — cada uma é uma entrega que funciona.
Ele reúne os planos auxiliares: o escopo, com declaração e EAP; a configuração, em que cada pacote da EAP vira um Pull Request revisado; o cronograma das 7 fases; a qualidade, com validação, testes, CI e Lighthouse; a comunicação; e uma matriz de riscos com resposta definida.
E ele fixa as linhas de base: escopo, cronograma e custo. Qualquer alteração nelas precisa passar pelo controle de mudanças — que o Alex vai mostrar.
Passo a palavra para o Luiz."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 — LUIZ (~1 min). "Obrigado, Francisco."
"Para coletar os requisitos usamos análise de documentos, brainstorming, benchmarking com marketplaces de autopeças e prototipação das telas.
Chegamos a 17 requisitos funcionais, escritos como histórias de usuário — por exemplo: 'como cliente, quero filtrar peças pelo modelo do meu carro' — e priorizados com MoSCoW: Must, Should, Could.
E a 12 requisitos não funcionais, como: o estoque nunca pode ficar negativo, mesmo com dois pedidos chegando ao mesmo tempo. Esse vira teste automatizado — mostramos daqui a pouco."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 — LUIZ (~1 min).
"Para cada requisito, a matriz de rastreabilidade responde três perguntas: qual objetivo do termo de abertura ele atende, qual pacote da EAP o entrega e qual é a evidência de que ele foi cumprido — um endpoint, uma tela ou um teste.
Por exemplo: o requisito de estoque nunca negativo está ligado ao objetivo O2, ao pacote 1.4.2, e a evidência é um teste que dispara cinco pedidos simultâneos do último item em estoque: só um passa.
Assim sabemos exatamente o que já foi atendido e o que falta — sem achismo."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 — LUIZ (~1 min 30 s).
"A Declaração de Escopo diz o que o sistema entrega: são 9 entregas — o catálogo, o carrinho com pedido, o agendamento, o painel administrativo, a qualidade e a publicação, e a documentação. Cada uma tem um critério de aceitação objetivo, por exemplo: 'dois agendamentos nunca ocupam o mesmo horário'.
E, tão importante quanto: o que NÃO faremos. Pagamento online, nota fiscal, aplicativo mobile, financiamento, frete e cadastro de cliente com senha ficaram de fora — por custo, prazo e segurança.
Quando alguém sugere uma dessas ideias, a resposta é: só entra com uma solicitação de mudança aprovada. Isso protege o projeto do scope creep."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 — LUIZ (~1 min 30 s). Apontar o topo e depois percorrer as caixas.
"A EAP é orientada a ENTREGAS, não a tarefas. No topo, o projeto; abaixo, as 7 fases de produto — da fundação técnica até a publicação — mais o pacote de gerência do projeto, que inclui estes documentos e as apresentações.
As fases se decompõem em 29 pacotes de produto. A regra do nível mais baixo é simples: um pacote tem que caber em um Pull Request. Assim cada pacote é verificável sozinho.
E o Dicionário da EAP traz, para cada pacote, a descrição, o critério de aceitação, o responsável e o esforço estimado.
Hoje só falta um pacote: publicar o sistema. Passo a palavra para o Alex."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 — ALEX (~1 min). "Obrigado, Luiz."
"Na execução, todo trabalho nasce de um pacote da EAP. Ele vira uma branch, depois um Pull Request; o CI roda lint, testes e build, outro integrante revisa, e só então entra no main — e a EAP é atualizada.
Mantemos dois registros: o log de entregas, que liga cada entrega ao commit e ao pacote, e o log de problemas. Exemplos reais: o banco estava apontando para a porta de um MariaDB; as fotos externas eram bloqueadas por hotlink e passaram a ser servidas localmente; e o segredo do login do admin estava fixo no código — corrigimos tornando obrigatório."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 — ALEX (~1 min 30 s).
"No monitoramento, comparamos o planejado com o realizado. Nosso relatório de desempenho mostra 97% dos pacotes de produto concluídos — falta só publicar.
Mas o relatório também mostrou um desvio: o lint, os testes e a integração contínua da F0 atrasaram cerca de 7 semanas. A ação corretiva foi fechar isso ANTES de começar o carrinho.
E a ação teve efeito: com 94 testes automatizados rodando a cada Pull Request — incluindo testes ponta a ponta no navegador —, o carrinho, o agendamento e o painel ficaram prontos semanas antes do início planejado. Qualidade no começo acelera, não atrasa."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 — ALEX (~1 min 30 s). Mostrar o fluxo e depois a tabela.
"Toda mudança passa por um fluxo: alguém registra a solicitação, a equipe analisa o impacto em escopo, prazo e qualidade, e o gerente decide — ou, se o impacto for alto, o comitê com consulta ao professor. Aprovada, ela atualiza as linhas de base.
Registramos 10 mudanças. Alguns exemplos: unificar peça e acessório num só modelo de dados; antecipar o login do painel — aprovada com condições, como tirar o segredo do código antes do deploy; e mudar a grade da agenda para seguir a duração de cada serviço, porque a solução do plano deixava dois agendamentos se sobreporem.
Teve também uma que encerramos sem usar: a contingência de prazo — com o adiantamento, ela deixou de ser necessária. E uma ainda proposta: hospedar o sistema no Coolify, onde o banco já está."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 — ALEX (~1 min).
"Verificar o escopo é obter o aceite formal de cada entrega. Não basta o código existir: a entrega é demonstrada, o checklist 'Pronto quando' é conferido item a item, e sempre que possível há um teste automatizado provando o critério.
Seis entregas estão aceitas. A F0 é um bom exemplo: ela primeiro recebeu aceite PARCIAL — faltavam testes e CI — e só foi aceita depois da ação corretiva.
A publicação está com aceite parcial: tudo pronto e testado, falta a URL pública. E a documentação PMBOK — estes artefatos — é a entrega que pedimos o aceite formal de vocês hoje."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 — ALEX (~1 min).
"Controlar o escopo é comparar o que foi feito com a linha de base — a declaração de escopo e a EAP — e impedir mudanças que ninguém aprovou.
Na análise de variação, cada diferença entre o planejado e o realizado está coberta: ou por uma mudança aprovada, ou por uma ação corretiva. O Swagger, por exemplo, saiu da F2 com o CR-04; o atraso dos testes virou a ação A1; a grade da agenda mudou com o CR-08.
O indicador que mais importa: zero mudanças implementadas sem registro. Nenhum Pull Request entrou sem um pacote da EAP correspondente."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 — ALEX (~1 min). Tom mais calmo e conclusivo.
"Para fechar: encerramos formalmente a fase Fundação e Catálogo, e registramos as lições aprendidas do projeto. Três se destacam: qualidade no começo da fase acelera, não atrasa; regras críticas — como estoque e agenda — precisam de teste com acessos simultâneos; e é preciso medir com a mesma ferramenta do critério de aceite, não 'no olho'.
Os próximos passos são poucos: publicar o sistema seguindo o guia de deploy, que já está pronto e testado; obter o aceite da publicação e desta documentação; e fechar com a versão 1.0 e o termo de encerramento.
O repositório completo está no GitHub. Obrigado — estamos abertos a perguntas."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874000" y="-2667000"/>
            <a:ext cx="8255000" cy="6985000"/>
          </a:xfrm>
          <a:prstGeom prst="ellipse">
            <a:avLst/>
          </a:prstGeom>
          <a:solidFill>
            <a:srgbClr val="C0392B">
              <a:alpha val="1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spc="200" kern="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GERÊNCIA DE PROJETOS · SISTEMAS DE INFORMAÇÃO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12800" y="2540000"/>
            <a:ext cx="10566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CHIQUINHO </a:t>
            </a:r>
            <a:pPr indent="0" marL="0">
              <a:buNone/>
            </a:pPr>
            <a:r>
              <a:rPr lang="en-US" sz="6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MOTORS</a:t>
            </a:r>
            <a:pPr indent="0" marL="0">
              <a:buNone/>
            </a:pPr>
            <a:r>
              <a:rPr lang="en-US" sz="66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®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812800" y="3683000"/>
            <a:ext cx="1056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Gerenciamento da Integração e do Escopo — PMBOK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12800" y="5715000"/>
            <a:ext cx="825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Francisco de Julio Faria · Luiz Henrique Mota · Alex Pablo de Oliveira Moraes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156700" y="5765800"/>
            <a:ext cx="222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9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2ª apresentação · out/2026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RECAPITULANDO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049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ESTAMOS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2800" y="1981200"/>
            <a:ext cx="1422400" cy="1270000"/>
          </a:xfrm>
          <a:prstGeom prst="roundRect">
            <a:avLst>
              <a:gd name="adj" fmla="val 3600"/>
            </a:avLst>
          </a:prstGeom>
          <a:solidFill>
            <a:srgbClr val="FBFBF8"/>
          </a:solidFill>
          <a:ln/>
        </p:spPr>
      </p:sp>
      <p:sp>
        <p:nvSpPr>
          <p:cNvPr id="6" name="Shape 3"/>
          <p:cNvSpPr/>
          <p:nvPr/>
        </p:nvSpPr>
        <p:spPr>
          <a:xfrm>
            <a:off x="812800" y="1981200"/>
            <a:ext cx="1422400" cy="38100"/>
          </a:xfrm>
          <a:prstGeom prst="rect">
            <a:avLst/>
          </a:prstGeom>
          <a:solidFill>
            <a:srgbClr val="1C1E2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215900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38760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895600"/>
            <a:ext cx="121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336800" y="1981200"/>
            <a:ext cx="1422400" cy="1270000"/>
          </a:xfrm>
          <a:prstGeom prst="roundRect">
            <a:avLst>
              <a:gd name="adj" fmla="val 3600"/>
            </a:avLst>
          </a:prstGeom>
          <a:solidFill>
            <a:srgbClr val="FBFBF8"/>
          </a:solidFill>
          <a:ln/>
        </p:spPr>
      </p:sp>
      <p:sp>
        <p:nvSpPr>
          <p:cNvPr id="11" name="Shape 8"/>
          <p:cNvSpPr/>
          <p:nvPr/>
        </p:nvSpPr>
        <p:spPr>
          <a:xfrm>
            <a:off x="2336800" y="1981200"/>
            <a:ext cx="1422400" cy="38100"/>
          </a:xfrm>
          <a:prstGeom prst="rect">
            <a:avLst/>
          </a:prstGeom>
          <a:solidFill>
            <a:srgbClr val="1C1E2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438400" y="215900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438400" y="238760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438400" y="2895600"/>
            <a:ext cx="121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860800" y="1981200"/>
            <a:ext cx="1422400" cy="1270000"/>
          </a:xfrm>
          <a:prstGeom prst="roundRect">
            <a:avLst>
              <a:gd name="adj" fmla="val 3600"/>
            </a:avLst>
          </a:prstGeom>
          <a:solidFill>
            <a:srgbClr val="FBFBF8"/>
          </a:solidFill>
          <a:ln/>
        </p:spPr>
      </p:sp>
      <p:sp>
        <p:nvSpPr>
          <p:cNvPr id="16" name="Shape 13"/>
          <p:cNvSpPr/>
          <p:nvPr/>
        </p:nvSpPr>
        <p:spPr>
          <a:xfrm>
            <a:off x="3860800" y="1981200"/>
            <a:ext cx="1422400" cy="38100"/>
          </a:xfrm>
          <a:prstGeom prst="rect">
            <a:avLst/>
          </a:prstGeom>
          <a:solidFill>
            <a:srgbClr val="1C1E2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962400" y="215900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962400" y="238760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Peças e acessórios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962400" y="2895600"/>
            <a:ext cx="121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384800" y="1981200"/>
            <a:ext cx="1422400" cy="1270000"/>
          </a:xfrm>
          <a:prstGeom prst="roundRect">
            <a:avLst>
              <a:gd name="adj" fmla="val 3600"/>
            </a:avLst>
          </a:prstGeom>
          <a:solidFill>
            <a:srgbClr val="FBFBF8"/>
          </a:solidFill>
          <a:ln/>
        </p:spPr>
      </p:sp>
      <p:sp>
        <p:nvSpPr>
          <p:cNvPr id="21" name="Shape 18"/>
          <p:cNvSpPr/>
          <p:nvPr/>
        </p:nvSpPr>
        <p:spPr>
          <a:xfrm>
            <a:off x="5384800" y="1981200"/>
            <a:ext cx="1422400" cy="38100"/>
          </a:xfrm>
          <a:prstGeom prst="rect">
            <a:avLst/>
          </a:prstGeom>
          <a:solidFill>
            <a:srgbClr val="1C1E2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0" y="215900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0" y="238760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Carrinho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0" y="2895600"/>
            <a:ext cx="121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908800" y="1981200"/>
            <a:ext cx="1422400" cy="1270000"/>
          </a:xfrm>
          <a:prstGeom prst="roundRect">
            <a:avLst>
              <a:gd name="adj" fmla="val 3600"/>
            </a:avLst>
          </a:prstGeom>
          <a:solidFill>
            <a:srgbClr val="FBFBF8"/>
          </a:solidFill>
          <a:ln/>
        </p:spPr>
      </p:sp>
      <p:sp>
        <p:nvSpPr>
          <p:cNvPr id="26" name="Shape 23"/>
          <p:cNvSpPr/>
          <p:nvPr/>
        </p:nvSpPr>
        <p:spPr>
          <a:xfrm>
            <a:off x="6908800" y="1981200"/>
            <a:ext cx="1422400" cy="38100"/>
          </a:xfrm>
          <a:prstGeom prst="rect">
            <a:avLst/>
          </a:prstGeom>
          <a:solidFill>
            <a:srgbClr val="1C1E2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010400" y="215900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010400" y="238760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Agendamento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7010400" y="2895600"/>
            <a:ext cx="121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432800" y="1981200"/>
            <a:ext cx="1422400" cy="1270000"/>
          </a:xfrm>
          <a:prstGeom prst="roundRect">
            <a:avLst>
              <a:gd name="adj" fmla="val 3600"/>
            </a:avLst>
          </a:prstGeom>
          <a:solidFill>
            <a:srgbClr val="FBFBF8"/>
          </a:solidFill>
          <a:ln/>
        </p:spPr>
      </p:sp>
      <p:sp>
        <p:nvSpPr>
          <p:cNvPr id="31" name="Shape 28"/>
          <p:cNvSpPr/>
          <p:nvPr/>
        </p:nvSpPr>
        <p:spPr>
          <a:xfrm>
            <a:off x="8432800" y="1981200"/>
            <a:ext cx="1422400" cy="38100"/>
          </a:xfrm>
          <a:prstGeom prst="rect">
            <a:avLst/>
          </a:prstGeom>
          <a:solidFill>
            <a:srgbClr val="1C1E2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534400" y="215900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534400" y="238760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admin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534400" y="2895600"/>
            <a:ext cx="121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9956800" y="1981200"/>
            <a:ext cx="1422400" cy="1270000"/>
          </a:xfrm>
          <a:prstGeom prst="roundRect">
            <a:avLst>
              <a:gd name="adj" fmla="val 3600"/>
            </a:avLst>
          </a:prstGeom>
          <a:solidFill>
            <a:srgbClr val="FBFBF8"/>
          </a:solidFill>
          <a:ln/>
        </p:spPr>
      </p:sp>
      <p:sp>
        <p:nvSpPr>
          <p:cNvPr id="36" name="Shape 33"/>
          <p:cNvSpPr/>
          <p:nvPr/>
        </p:nvSpPr>
        <p:spPr>
          <a:xfrm>
            <a:off x="9956800" y="1981200"/>
            <a:ext cx="1422400" cy="381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0058400" y="215900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F6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0058400" y="238760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Publicação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10058400" y="2895600"/>
            <a:ext cx="121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publicar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812800" y="4381500"/>
            <a:ext cx="266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7000" dirty="0"/>
          </a:p>
        </p:txBody>
      </p:sp>
      <p:sp>
        <p:nvSpPr>
          <p:cNvPr id="41" name="Text 38"/>
          <p:cNvSpPr txBox="1"/>
          <p:nvPr/>
        </p:nvSpPr>
        <p:spPr>
          <a:xfrm>
            <a:off x="812800" y="53721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pacotes de produto (28 de 29)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4826000" y="46672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4800" dirty="0"/>
          </a:p>
        </p:txBody>
      </p:sp>
      <p:sp>
        <p:nvSpPr>
          <p:cNvPr id="43" name="Text 40"/>
          <p:cNvSpPr txBox="1"/>
          <p:nvPr/>
        </p:nvSpPr>
        <p:spPr>
          <a:xfrm>
            <a:off x="4826000" y="53721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automatizados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7493000" y="46672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800" dirty="0"/>
          </a:p>
        </p:txBody>
      </p:sp>
      <p:sp>
        <p:nvSpPr>
          <p:cNvPr id="45" name="Text 42"/>
          <p:cNvSpPr txBox="1"/>
          <p:nvPr/>
        </p:nvSpPr>
        <p:spPr>
          <a:xfrm>
            <a:off x="7493000" y="53721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mudanças registradas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812800" y="62484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Chiquinho Motors® · Integração e Escopo —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· INICIAÇÃO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049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TERMO DE ABERTURA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2800" y="1981200"/>
            <a:ext cx="5207000" cy="1587500"/>
          </a:xfrm>
          <a:prstGeom prst="roundRect">
            <a:avLst>
              <a:gd name="adj" fmla="val 2880"/>
            </a:avLst>
          </a:prstGeom>
          <a:solidFill>
            <a:srgbClr val="FBFBF8"/>
          </a:solidFill>
          <a:ln/>
        </p:spPr>
      </p:sp>
      <p:sp>
        <p:nvSpPr>
          <p:cNvPr id="6" name="Shape 3"/>
          <p:cNvSpPr/>
          <p:nvPr/>
        </p:nvSpPr>
        <p:spPr>
          <a:xfrm>
            <a:off x="812800" y="1981200"/>
            <a:ext cx="38100" cy="1587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41400" y="2209800"/>
            <a:ext cx="4749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Justificativa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41400" y="2578100"/>
            <a:ext cx="4749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Veículos, peças e serviços em planilhas separadas: concessionárias assim perdem até </a:t>
            </a:r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3A3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das vendas de peças e serviços.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72200" y="1981200"/>
            <a:ext cx="5207000" cy="1587500"/>
          </a:xfrm>
          <a:prstGeom prst="roundRect">
            <a:avLst>
              <a:gd name="adj" fmla="val 2880"/>
            </a:avLst>
          </a:prstGeom>
          <a:solidFill>
            <a:srgbClr val="FBFBF8"/>
          </a:solidFill>
          <a:ln/>
        </p:spPr>
      </p:sp>
      <p:sp>
        <p:nvSpPr>
          <p:cNvPr id="10" name="Shape 7"/>
          <p:cNvSpPr/>
          <p:nvPr/>
        </p:nvSpPr>
        <p:spPr>
          <a:xfrm>
            <a:off x="6172200" y="1981200"/>
            <a:ext cx="38100" cy="1587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0" y="2209800"/>
            <a:ext cx="4749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578100"/>
            <a:ext cx="4749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 web que integra veículos, auto-peças, acessórios e serviços num só banco relacional — com 5 objetivos SMART.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12800" y="3721100"/>
            <a:ext cx="5207000" cy="1587500"/>
          </a:xfrm>
          <a:prstGeom prst="roundRect">
            <a:avLst>
              <a:gd name="adj" fmla="val 2880"/>
            </a:avLst>
          </a:prstGeom>
          <a:solidFill>
            <a:srgbClr val="FBFBF8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800" y="3721100"/>
            <a:ext cx="38100" cy="1587500"/>
          </a:xfrm>
          <a:prstGeom prst="rect">
            <a:avLst/>
          </a:prstGeom>
          <a:solidFill>
            <a:srgbClr val="1C1E2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41400" y="3949700"/>
            <a:ext cx="4749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Restrições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041400" y="4318000"/>
            <a:ext cx="4749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Prazo: dezembro/2026 · Custo: R$ 0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Vue 3, Node.js e PostgreSQL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72200" y="3721100"/>
            <a:ext cx="5207000" cy="1587500"/>
          </a:xfrm>
          <a:prstGeom prst="roundRect">
            <a:avLst>
              <a:gd name="adj" fmla="val 2880"/>
            </a:avLst>
          </a:prstGeom>
          <a:solidFill>
            <a:srgbClr val="FBFBF8"/>
          </a:solidFill>
          <a:ln/>
        </p:spPr>
      </p:sp>
      <p:sp>
        <p:nvSpPr>
          <p:cNvPr id="18" name="Shape 15"/>
          <p:cNvSpPr/>
          <p:nvPr/>
        </p:nvSpPr>
        <p:spPr>
          <a:xfrm>
            <a:off x="6172200" y="3721100"/>
            <a:ext cx="38100" cy="1587500"/>
          </a:xfrm>
          <a:prstGeom prst="rect">
            <a:avLst/>
          </a:prstGeom>
          <a:solidFill>
            <a:srgbClr val="1C1E2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0" y="3949700"/>
            <a:ext cx="4749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Autoridade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4318000"/>
            <a:ext cx="4749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Patrocinador: professor(a)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do projeto: Luiz · Equipe: Francisco e Alex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12800" y="62484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Chiquinho Motors® · docs/gerenciamento/01-Iniciacao/Termo-de-Abertura.md —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· PLANEJAMENTO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049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GERENCIAMENTO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2800" y="1905000"/>
            <a:ext cx="469900" cy="317500"/>
          </a:xfrm>
          <a:prstGeom prst="roundRect">
            <a:avLst>
              <a:gd name="adj" fmla="val 144000"/>
            </a:avLst>
          </a:prstGeom>
          <a:solidFill>
            <a:srgbClr val="2A2D3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2800" y="1905000"/>
            <a:ext cx="4699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282700" y="1905000"/>
            <a:ext cx="2159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498600" y="1905000"/>
            <a:ext cx="469900" cy="317500"/>
          </a:xfrm>
          <a:prstGeom prst="roundRect">
            <a:avLst>
              <a:gd name="adj" fmla="val 144000"/>
            </a:avLst>
          </a:prstGeom>
          <a:solidFill>
            <a:srgbClr val="2A2D3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98600" y="1905000"/>
            <a:ext cx="4699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968500" y="1905000"/>
            <a:ext cx="2159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84400" y="1905000"/>
            <a:ext cx="469900" cy="317500"/>
          </a:xfrm>
          <a:prstGeom prst="roundRect">
            <a:avLst>
              <a:gd name="adj" fmla="val 144000"/>
            </a:avLst>
          </a:prstGeom>
          <a:solidFill>
            <a:srgbClr val="2A2D3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184400" y="1905000"/>
            <a:ext cx="4699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654300" y="1905000"/>
            <a:ext cx="2159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70200" y="1905000"/>
            <a:ext cx="469900" cy="317500"/>
          </a:xfrm>
          <a:prstGeom prst="roundRect">
            <a:avLst>
              <a:gd name="adj" fmla="val 144000"/>
            </a:avLst>
          </a:prstGeom>
          <a:solidFill>
            <a:srgbClr val="2A2D3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870200" y="1905000"/>
            <a:ext cx="4699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340100" y="1905000"/>
            <a:ext cx="2159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556000" y="1905000"/>
            <a:ext cx="469900" cy="317500"/>
          </a:xfrm>
          <a:prstGeom prst="roundRect">
            <a:avLst>
              <a:gd name="adj" fmla="val 144000"/>
            </a:avLst>
          </a:prstGeom>
          <a:solidFill>
            <a:srgbClr val="2A2D3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556000" y="1905000"/>
            <a:ext cx="4699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025900" y="1905000"/>
            <a:ext cx="2159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241800" y="1905000"/>
            <a:ext cx="469900" cy="317500"/>
          </a:xfrm>
          <a:prstGeom prst="roundRect">
            <a:avLst>
              <a:gd name="adj" fmla="val 144000"/>
            </a:avLst>
          </a:prstGeom>
          <a:solidFill>
            <a:srgbClr val="2A2D3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241800" y="1905000"/>
            <a:ext cx="4699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711700" y="1905000"/>
            <a:ext cx="2159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927600" y="1905000"/>
            <a:ext cx="469900" cy="317500"/>
          </a:xfrm>
          <a:prstGeom prst="roundRect">
            <a:avLst>
              <a:gd name="adj" fmla="val 144000"/>
            </a:avLst>
          </a:prstGeom>
          <a:solidFill>
            <a:srgbClr val="C0392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927600" y="1905000"/>
            <a:ext cx="4699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F6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549900" y="19050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iterativo e incremental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76500"/>
          <a:ext cx="10566400" cy="914400"/>
        </p:xfrm>
        <a:graphic>
          <a:graphicData uri="http://schemas.openxmlformats.org/drawingml/2006/table">
            <a:tbl>
              <a:tblPr/>
              <a:tblGrid>
                <a:gridCol w="2535936"/>
                <a:gridCol w="8030464"/>
              </a:tblGrid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é feito no projeto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Escopo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Declaração de escopo + EAP + dicionário da EAP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Git: 1 pacote da EAP = 1 Pull Request revisado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Cronograma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fases com estimativa, de agosto a dezembro/2026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Qualidade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Validação Zod, testes, CI e Lighthouse ≥ 90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riscos com resposta definida (ex.: prazo → contingência)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</a:tbl>
          </a:graphicData>
        </a:graphic>
      </p:graphicFrame>
      <p:sp>
        <p:nvSpPr>
          <p:cNvPr id="27" name="Text 23"/>
          <p:cNvSpPr txBox="1"/>
          <p:nvPr/>
        </p:nvSpPr>
        <p:spPr>
          <a:xfrm>
            <a:off x="812800" y="51435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 de base</a:t>
            </a:r>
            <a:pPr indent="0" marL="0">
              <a:buNone/>
            </a:pPr>
            <a:r>
              <a:rPr lang="en-US" sz="1500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escopo, cronograma e custo: só mudam via controle de mudanças.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812800" y="62484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Chiquinho Motors® · docs/gerenciamento/02-Planejamento/Plano-de-Gerenciamento-do-Projeto.md —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· COLETAR REQUISITOS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049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DE REQUISITOS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2800" y="1943100"/>
            <a:ext cx="2247900" cy="342900"/>
          </a:xfrm>
          <a:prstGeom prst="roundRect">
            <a:avLst>
              <a:gd name="adj" fmla="val 133333"/>
            </a:avLst>
          </a:prstGeom>
          <a:solidFill>
            <a:srgbClr val="E6E4D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2800" y="1943100"/>
            <a:ext cx="2247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documentos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162300" y="1943100"/>
            <a:ext cx="1504950" cy="342900"/>
          </a:xfrm>
          <a:prstGeom prst="roundRect">
            <a:avLst>
              <a:gd name="adj" fmla="val 133333"/>
            </a:avLst>
          </a:prstGeom>
          <a:solidFill>
            <a:srgbClr val="E6E4D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162300" y="1943100"/>
            <a:ext cx="1504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68850" y="1943100"/>
            <a:ext cx="2984500" cy="342900"/>
          </a:xfrm>
          <a:prstGeom prst="roundRect">
            <a:avLst>
              <a:gd name="adj" fmla="val 133333"/>
            </a:avLst>
          </a:prstGeom>
          <a:solidFill>
            <a:srgbClr val="E6E4D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68850" y="1943100"/>
            <a:ext cx="298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com marketplaces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854950" y="1943100"/>
            <a:ext cx="1416050" cy="342900"/>
          </a:xfrm>
          <a:prstGeom prst="roundRect">
            <a:avLst>
              <a:gd name="adj" fmla="val 133333"/>
            </a:avLst>
          </a:prstGeom>
          <a:solidFill>
            <a:srgbClr val="E6E4D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54950" y="1943100"/>
            <a:ext cx="1416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Prototipação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372600" y="1943100"/>
            <a:ext cx="2152650" cy="342900"/>
          </a:xfrm>
          <a:prstGeom prst="roundRect">
            <a:avLst>
              <a:gd name="adj" fmla="val 133333"/>
            </a:avLst>
          </a:prstGeom>
          <a:solidFill>
            <a:srgbClr val="E6E4D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372600" y="1943100"/>
            <a:ext cx="2152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Histórias de usuário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12800" y="2667000"/>
            <a:ext cx="2984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6000" dirty="0"/>
          </a:p>
        </p:txBody>
      </p:sp>
      <p:sp>
        <p:nvSpPr>
          <p:cNvPr id="16" name="Text 13"/>
          <p:cNvSpPr txBox="1"/>
          <p:nvPr/>
        </p:nvSpPr>
        <p:spPr>
          <a:xfrm>
            <a:off x="812800" y="3556000"/>
            <a:ext cx="298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funcionais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12800" y="3848100"/>
            <a:ext cx="279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histórias de usuário priorizadas com MoSCoW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000500" y="2667000"/>
            <a:ext cx="2984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000" dirty="0"/>
          </a:p>
        </p:txBody>
      </p:sp>
      <p:sp>
        <p:nvSpPr>
          <p:cNvPr id="19" name="Text 16"/>
          <p:cNvSpPr txBox="1"/>
          <p:nvPr/>
        </p:nvSpPr>
        <p:spPr>
          <a:xfrm>
            <a:off x="4000500" y="3556000"/>
            <a:ext cx="298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funcionais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000500" y="3848100"/>
            <a:ext cx="279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segurança, dados, usabilidade e manutenção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188200" y="2667000"/>
            <a:ext cx="4191000" cy="2667000"/>
          </a:xfrm>
          <a:prstGeom prst="roundRect">
            <a:avLst>
              <a:gd name="adj" fmla="val 1714"/>
            </a:avLst>
          </a:prstGeom>
          <a:solidFill>
            <a:srgbClr val="FBFBF8"/>
          </a:solidFill>
          <a:ln/>
        </p:spPr>
      </p:sp>
      <p:sp>
        <p:nvSpPr>
          <p:cNvPr id="22" name="Shape 19"/>
          <p:cNvSpPr/>
          <p:nvPr/>
        </p:nvSpPr>
        <p:spPr>
          <a:xfrm>
            <a:off x="7188200" y="2667000"/>
            <a:ext cx="38100" cy="2667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391400" y="2870200"/>
            <a:ext cx="3784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RF04 · MUST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391400" y="3149600"/>
            <a:ext cx="378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“Como cliente, quero filtrar peças pelo modelo do meu carro.”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391400" y="3911600"/>
            <a:ext cx="3784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RNF08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391400" y="4191000"/>
            <a:ext cx="378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Estoque nunca negativo, mesmo com pedidos simultâneos.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12800" y="62484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Chiquinho Motors® · docs/gerenciamento/02-Planejamento/Documentacao-de-Requisitos.md — 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· COLETAR REQUISITOS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049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RASTREABILIDADE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19431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requisito liga um </a:t>
            </a:r>
            <a:pPr indent="0" marL="0">
              <a:buNone/>
            </a:pPr>
            <a:r>
              <a:rPr lang="en-US" sz="1500" b="1" dirty="0">
                <a:solidFill>
                  <a:srgbClr val="3A3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do termo de abertura</a:t>
            </a:r>
            <a:pPr indent="0" marL="0">
              <a:buNone/>
            </a:pPr>
            <a:r>
              <a:rPr lang="en-US" sz="1500" dirty="0">
                <a:solidFill>
                  <a:srgbClr val="3A3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um </a:t>
            </a:r>
            <a:pPr indent="0" marL="0">
              <a:buNone/>
            </a:pPr>
            <a:r>
              <a:rPr lang="en-US" sz="1500" b="1" dirty="0">
                <a:solidFill>
                  <a:srgbClr val="3A3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 da EAP</a:t>
            </a:r>
            <a:pPr indent="0" marL="0">
              <a:buNone/>
            </a:pPr>
            <a:r>
              <a:rPr lang="en-US" sz="1500" dirty="0">
                <a:solidFill>
                  <a:srgbClr val="3A3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a uma </a:t>
            </a:r>
            <a:pPr indent="0" marL="0">
              <a:buNone/>
            </a:pPr>
            <a:r>
              <a:rPr lang="en-US" sz="1500" b="1" dirty="0">
                <a:solidFill>
                  <a:srgbClr val="3A3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</a:t>
            </a:r>
            <a:pPr indent="0" marL="0">
              <a:buNone/>
            </a:pPr>
            <a:r>
              <a:rPr lang="en-US" sz="1500" dirty="0">
                <a:solidFill>
                  <a:srgbClr val="3A3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76500"/>
          <a:ext cx="10566400" cy="914400"/>
        </p:xfrm>
        <a:graphic>
          <a:graphicData uri="http://schemas.openxmlformats.org/drawingml/2006/table">
            <a:tbl>
              <a:tblPr/>
              <a:tblGrid>
                <a:gridCol w="2958592"/>
                <a:gridCol w="1056640"/>
                <a:gridCol w="1479296"/>
                <a:gridCol w="3803904"/>
                <a:gridCol w="1267968"/>
              </a:tblGrid>
              <a:tr h="346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Pacote EAP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Evidência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E22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RF04 · filtrar pelo modelo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1.3.1–1.3.2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tabela de compatibilidade + filtro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Atendido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RF08–10 · carrinho e pedido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1.4.1–1.4.4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testes de API + E2E de compra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Atendido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RF12 · agendar horário livre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1.5.1–1.5.4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testes de API + E2E de agendamento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Atendido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RNF08 · estoque nunca negativo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 com 5 pedidos simultâneos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Atendido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RNF11 · Lighthouse ≥ 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acessibilidade 100, performance 95–98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Atendido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12800" y="62484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Chiquinho Motors® · trecho da matriz completa (29 linhas) — 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· DEFINIR O ESCOPO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049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DECLARAÇÃO DE ESCOPO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2800" y="1943100"/>
            <a:ext cx="5181600" cy="3810000"/>
          </a:xfrm>
          <a:prstGeom prst="roundRect">
            <a:avLst>
              <a:gd name="adj" fmla="val 1200"/>
            </a:avLst>
          </a:prstGeom>
          <a:solidFill>
            <a:srgbClr val="1C1E22"/>
          </a:solidFill>
          <a:ln/>
        </p:spPr>
      </p:sp>
      <p:sp>
        <p:nvSpPr>
          <p:cNvPr id="6" name="Shape 3"/>
          <p:cNvSpPr/>
          <p:nvPr/>
        </p:nvSpPr>
        <p:spPr>
          <a:xfrm>
            <a:off x="812800" y="1943100"/>
            <a:ext cx="5181600" cy="38100"/>
          </a:xfrm>
          <a:prstGeom prst="rect">
            <a:avLst/>
          </a:prstGeom>
          <a:solidFill>
            <a:srgbClr val="C8CC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66800" y="2197100"/>
            <a:ext cx="467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Dentro: 9 entregas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66800" y="2603500"/>
            <a:ext cx="46736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veículos, peças e acessórios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Carrinho, checkout e pedido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Agendamento de serviços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administrativo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Testes, CI e publicação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PMBOK e apresentações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66800" y="5156200"/>
            <a:ext cx="4673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uma com critério de aceitação objetivo.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97600" y="1943100"/>
            <a:ext cx="5181600" cy="3810000"/>
          </a:xfrm>
          <a:prstGeom prst="roundRect">
            <a:avLst>
              <a:gd name="adj" fmla="val 1200"/>
            </a:avLst>
          </a:prstGeom>
          <a:solidFill>
            <a:srgbClr val="1C1E22"/>
          </a:solidFill>
          <a:ln/>
        </p:spPr>
      </p:sp>
      <p:sp>
        <p:nvSpPr>
          <p:cNvPr id="11" name="Shape 8"/>
          <p:cNvSpPr/>
          <p:nvPr/>
        </p:nvSpPr>
        <p:spPr>
          <a:xfrm>
            <a:off x="6197600" y="1943100"/>
            <a:ext cx="5181600" cy="381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51600" y="2197100"/>
            <a:ext cx="467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do escopo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51600" y="2603500"/>
            <a:ext cx="46736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online (Pix, cartão)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fiscal e integração com ERP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Aplicativo mobile nativo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Financiamento de veículos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de frete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de cliente com senha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51600" y="5156200"/>
            <a:ext cx="4673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Dizer o que não fazemos protege o projeto do </a:t>
            </a:r>
            <a:pPr indent="0" marL="0">
              <a:buNone/>
            </a:pPr>
            <a:r>
              <a:rPr lang="en-US" sz="1300" i="1" dirty="0">
                <a:solidFill>
                  <a:srgbClr val="9A9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creep</a:t>
            </a:r>
            <a:pPr indent="0" marL="0">
              <a:buNone/>
            </a:pPr>
            <a:r>
              <a:rPr lang="en-US" sz="1300" dirty="0">
                <a:solidFill>
                  <a:srgbClr val="9A9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12800" y="62484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Chiquinho Motors® · docs/gerenciamento/02-Planejamento/Declaracao-de-Escopo.md — 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· CRIAR A EAP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049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ANALÍTICA DO PROJETO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826000" y="1841500"/>
            <a:ext cx="2540000" cy="381000"/>
          </a:xfrm>
          <a:prstGeom prst="roundRect">
            <a:avLst>
              <a:gd name="adj" fmla="val 28800"/>
            </a:avLst>
          </a:prstGeom>
          <a:solidFill>
            <a:srgbClr val="C0392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826000" y="18415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Chiquinho Motors®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083300" y="2222500"/>
            <a:ext cx="25400" cy="177800"/>
          </a:xfrm>
          <a:prstGeom prst="rect">
            <a:avLst/>
          </a:prstGeom>
          <a:solidFill>
            <a:srgbClr val="1C1E22"/>
          </a:solidFill>
          <a:ln/>
        </p:spPr>
      </p:sp>
      <p:sp>
        <p:nvSpPr>
          <p:cNvPr id="8" name="Shape 5"/>
          <p:cNvSpPr/>
          <p:nvPr/>
        </p:nvSpPr>
        <p:spPr>
          <a:xfrm>
            <a:off x="1333500" y="2400300"/>
            <a:ext cx="9525000" cy="25400"/>
          </a:xfrm>
          <a:prstGeom prst="rect">
            <a:avLst/>
          </a:prstGeom>
          <a:solidFill>
            <a:srgbClr val="1C1E22"/>
          </a:solidFill>
          <a:ln/>
        </p:spPr>
      </p:sp>
      <p:sp>
        <p:nvSpPr>
          <p:cNvPr id="9" name="Shape 6"/>
          <p:cNvSpPr/>
          <p:nvPr/>
        </p:nvSpPr>
        <p:spPr>
          <a:xfrm>
            <a:off x="812800" y="2578100"/>
            <a:ext cx="2565400" cy="889000"/>
          </a:xfrm>
          <a:prstGeom prst="roundRect">
            <a:avLst>
              <a:gd name="adj" fmla="val 5143"/>
            </a:avLst>
          </a:prstGeom>
          <a:solidFill>
            <a:srgbClr val="FBFBF8"/>
          </a:solidFill>
          <a:ln/>
        </p:spPr>
      </p:sp>
      <p:sp>
        <p:nvSpPr>
          <p:cNvPr id="10" name="Shape 7"/>
          <p:cNvSpPr/>
          <p:nvPr/>
        </p:nvSpPr>
        <p:spPr>
          <a:xfrm>
            <a:off x="812800" y="2578100"/>
            <a:ext cx="2565400" cy="38100"/>
          </a:xfrm>
          <a:prstGeom prst="rect">
            <a:avLst/>
          </a:prstGeom>
          <a:solidFill>
            <a:srgbClr val="1C1E2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39800" y="2717800"/>
            <a:ext cx="231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· F0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39800" y="2933700"/>
            <a:ext cx="2311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 técnica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39800" y="3175000"/>
            <a:ext cx="231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pacotes · concluída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79800" y="2578100"/>
            <a:ext cx="2565400" cy="889000"/>
          </a:xfrm>
          <a:prstGeom prst="roundRect">
            <a:avLst>
              <a:gd name="adj" fmla="val 5143"/>
            </a:avLst>
          </a:prstGeom>
          <a:solidFill>
            <a:srgbClr val="FBFBF8"/>
          </a:solidFill>
          <a:ln/>
        </p:spPr>
      </p:sp>
      <p:sp>
        <p:nvSpPr>
          <p:cNvPr id="15" name="Shape 12"/>
          <p:cNvSpPr/>
          <p:nvPr/>
        </p:nvSpPr>
        <p:spPr>
          <a:xfrm>
            <a:off x="3479800" y="2578100"/>
            <a:ext cx="2565400" cy="38100"/>
          </a:xfrm>
          <a:prstGeom prst="rect">
            <a:avLst/>
          </a:prstGeom>
          <a:solidFill>
            <a:srgbClr val="1C1E2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06800" y="2717800"/>
            <a:ext cx="231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· F1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606800" y="2933700"/>
            <a:ext cx="2311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Persistência e veículos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606800" y="3175000"/>
            <a:ext cx="231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pacotes · concluída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6800" y="2578100"/>
            <a:ext cx="2565400" cy="889000"/>
          </a:xfrm>
          <a:prstGeom prst="roundRect">
            <a:avLst>
              <a:gd name="adj" fmla="val 5143"/>
            </a:avLst>
          </a:prstGeom>
          <a:solidFill>
            <a:srgbClr val="FBFBF8"/>
          </a:solidFill>
          <a:ln/>
        </p:spPr>
      </p:sp>
      <p:sp>
        <p:nvSpPr>
          <p:cNvPr id="20" name="Shape 17"/>
          <p:cNvSpPr/>
          <p:nvPr/>
        </p:nvSpPr>
        <p:spPr>
          <a:xfrm>
            <a:off x="6146800" y="2578100"/>
            <a:ext cx="2565400" cy="38100"/>
          </a:xfrm>
          <a:prstGeom prst="rect">
            <a:avLst/>
          </a:prstGeom>
          <a:solidFill>
            <a:srgbClr val="1C1E2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273800" y="2717800"/>
            <a:ext cx="231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· F2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273800" y="2933700"/>
            <a:ext cx="2311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Peças e acessórios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273800" y="3175000"/>
            <a:ext cx="231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pacotes · concluída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813800" y="2578100"/>
            <a:ext cx="2565400" cy="889000"/>
          </a:xfrm>
          <a:prstGeom prst="roundRect">
            <a:avLst>
              <a:gd name="adj" fmla="val 5143"/>
            </a:avLst>
          </a:prstGeom>
          <a:solidFill>
            <a:srgbClr val="FBFBF8"/>
          </a:solidFill>
          <a:ln/>
        </p:spPr>
      </p:sp>
      <p:sp>
        <p:nvSpPr>
          <p:cNvPr id="25" name="Shape 22"/>
          <p:cNvSpPr/>
          <p:nvPr/>
        </p:nvSpPr>
        <p:spPr>
          <a:xfrm>
            <a:off x="8813800" y="2578100"/>
            <a:ext cx="2565400" cy="38100"/>
          </a:xfrm>
          <a:prstGeom prst="rect">
            <a:avLst/>
          </a:prstGeom>
          <a:solidFill>
            <a:srgbClr val="1C1E2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940800" y="2717800"/>
            <a:ext cx="231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 · F3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940800" y="2933700"/>
            <a:ext cx="2311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Carrinho e checkout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940800" y="3175000"/>
            <a:ext cx="231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pacotes · concluída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12800" y="3568700"/>
            <a:ext cx="2565400" cy="889000"/>
          </a:xfrm>
          <a:prstGeom prst="roundRect">
            <a:avLst>
              <a:gd name="adj" fmla="val 5143"/>
            </a:avLst>
          </a:prstGeom>
          <a:solidFill>
            <a:srgbClr val="FBFBF8"/>
          </a:solidFill>
          <a:ln/>
        </p:spPr>
      </p:sp>
      <p:sp>
        <p:nvSpPr>
          <p:cNvPr id="30" name="Shape 27"/>
          <p:cNvSpPr/>
          <p:nvPr/>
        </p:nvSpPr>
        <p:spPr>
          <a:xfrm>
            <a:off x="812800" y="3568700"/>
            <a:ext cx="2565400" cy="38100"/>
          </a:xfrm>
          <a:prstGeom prst="rect">
            <a:avLst/>
          </a:prstGeom>
          <a:solidFill>
            <a:srgbClr val="1C1E2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39800" y="3708400"/>
            <a:ext cx="231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· F4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39800" y="3924300"/>
            <a:ext cx="2311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Serviços e agenda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939800" y="4165600"/>
            <a:ext cx="231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pacotes · concluída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479800" y="3568700"/>
            <a:ext cx="2565400" cy="889000"/>
          </a:xfrm>
          <a:prstGeom prst="roundRect">
            <a:avLst>
              <a:gd name="adj" fmla="val 5143"/>
            </a:avLst>
          </a:prstGeom>
          <a:solidFill>
            <a:srgbClr val="FBFBF8"/>
          </a:solidFill>
          <a:ln/>
        </p:spPr>
      </p:sp>
      <p:sp>
        <p:nvSpPr>
          <p:cNvPr id="35" name="Shape 32"/>
          <p:cNvSpPr/>
          <p:nvPr/>
        </p:nvSpPr>
        <p:spPr>
          <a:xfrm>
            <a:off x="3479800" y="3568700"/>
            <a:ext cx="2565400" cy="38100"/>
          </a:xfrm>
          <a:prstGeom prst="rect">
            <a:avLst/>
          </a:prstGeom>
          <a:solidFill>
            <a:srgbClr val="1C1E2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606800" y="3708400"/>
            <a:ext cx="231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 · F5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3606800" y="3924300"/>
            <a:ext cx="2311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administrativo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3606800" y="4165600"/>
            <a:ext cx="231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pacotes · concluída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146800" y="3568700"/>
            <a:ext cx="2565400" cy="889000"/>
          </a:xfrm>
          <a:prstGeom prst="roundRect">
            <a:avLst>
              <a:gd name="adj" fmla="val 5143"/>
            </a:avLst>
          </a:prstGeom>
          <a:solidFill>
            <a:srgbClr val="FBFBF8"/>
          </a:solidFill>
          <a:ln/>
        </p:spPr>
      </p:sp>
      <p:sp>
        <p:nvSpPr>
          <p:cNvPr id="40" name="Shape 37"/>
          <p:cNvSpPr/>
          <p:nvPr/>
        </p:nvSpPr>
        <p:spPr>
          <a:xfrm>
            <a:off x="6146800" y="3568700"/>
            <a:ext cx="2565400" cy="381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273800" y="3708400"/>
            <a:ext cx="231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 · F6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6273800" y="3924300"/>
            <a:ext cx="2311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e publicação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6273800" y="4165600"/>
            <a:ext cx="231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 4 · falta publicar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8813800" y="3568700"/>
            <a:ext cx="2565400" cy="889000"/>
          </a:xfrm>
          <a:prstGeom prst="roundRect">
            <a:avLst>
              <a:gd name="adj" fmla="val 5143"/>
            </a:avLst>
          </a:prstGeom>
          <a:solidFill>
            <a:srgbClr val="E6E4DD"/>
          </a:solidFill>
          <a:ln/>
        </p:spPr>
      </p:sp>
      <p:sp>
        <p:nvSpPr>
          <p:cNvPr id="45" name="Shape 42"/>
          <p:cNvSpPr/>
          <p:nvPr/>
        </p:nvSpPr>
        <p:spPr>
          <a:xfrm>
            <a:off x="8813800" y="3568700"/>
            <a:ext cx="2565400" cy="38100"/>
          </a:xfrm>
          <a:prstGeom prst="rect">
            <a:avLst/>
          </a:prstGeom>
          <a:solidFill>
            <a:srgbClr val="6B6F76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940800" y="3708400"/>
            <a:ext cx="231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8940800" y="3924300"/>
            <a:ext cx="2311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Gerência do projeto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8940800" y="4165600"/>
            <a:ext cx="231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pacotes · contínuo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812800" y="46990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pacotes de produto.</a:t>
            </a:r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Regra: um pacote cabe em </a:t>
            </a:r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Pull Request</a:t>
            </a:r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 tem descrição, critério de aceitação, responsável e esforço no dicionário da EAP.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812800" y="62484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Chiquinho Motors® · docs/gerenciamento/02-Planejamento/EAP.md — 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· EXECUÇÃO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049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ORIENTAR E GERENCIAR A EXECUÇÃO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2800" y="1981200"/>
            <a:ext cx="1454150" cy="381000"/>
          </a:xfrm>
          <a:prstGeom prst="roundRect">
            <a:avLst>
              <a:gd name="adj" fmla="val 28800"/>
            </a:avLst>
          </a:prstGeom>
          <a:solidFill>
            <a:srgbClr val="C0392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2800" y="1981200"/>
            <a:ext cx="1454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 da EAP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343150" y="2108200"/>
            <a:ext cx="228600" cy="127000"/>
          </a:xfrm>
          <a:prstGeom prst="rightArrow">
            <a:avLst/>
          </a:prstGeom>
          <a:solidFill>
            <a:srgbClr val="6B6F76"/>
          </a:solidFill>
          <a:ln/>
        </p:spPr>
      </p:sp>
      <p:sp>
        <p:nvSpPr>
          <p:cNvPr id="8" name="Shape 5"/>
          <p:cNvSpPr/>
          <p:nvPr/>
        </p:nvSpPr>
        <p:spPr>
          <a:xfrm>
            <a:off x="2647950" y="1981200"/>
            <a:ext cx="806450" cy="381000"/>
          </a:xfrm>
          <a:prstGeom prst="roundRect">
            <a:avLst>
              <a:gd name="adj" fmla="val 28800"/>
            </a:avLst>
          </a:prstGeom>
          <a:solidFill>
            <a:srgbClr val="FBFBF8"/>
          </a:solidFill>
          <a:ln w="19050">
            <a:solidFill>
              <a:srgbClr val="1C1E2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47950" y="1981200"/>
            <a:ext cx="806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30600" y="2108200"/>
            <a:ext cx="228600" cy="127000"/>
          </a:xfrm>
          <a:prstGeom prst="rightArrow">
            <a:avLst/>
          </a:prstGeom>
          <a:solidFill>
            <a:srgbClr val="6B6F76"/>
          </a:solidFill>
          <a:ln/>
        </p:spPr>
      </p:sp>
      <p:sp>
        <p:nvSpPr>
          <p:cNvPr id="11" name="Shape 8"/>
          <p:cNvSpPr/>
          <p:nvPr/>
        </p:nvSpPr>
        <p:spPr>
          <a:xfrm>
            <a:off x="3835400" y="1981200"/>
            <a:ext cx="1365250" cy="381000"/>
          </a:xfrm>
          <a:prstGeom prst="roundRect">
            <a:avLst>
              <a:gd name="adj" fmla="val 28800"/>
            </a:avLst>
          </a:prstGeom>
          <a:solidFill>
            <a:srgbClr val="FBFBF8"/>
          </a:solidFill>
          <a:ln w="19050">
            <a:solidFill>
              <a:srgbClr val="1C1E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835400" y="1981200"/>
            <a:ext cx="1365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76850" y="2108200"/>
            <a:ext cx="228600" cy="127000"/>
          </a:xfrm>
          <a:prstGeom prst="rightArrow">
            <a:avLst/>
          </a:prstGeom>
          <a:solidFill>
            <a:srgbClr val="6B6F76"/>
          </a:solidFill>
          <a:ln/>
        </p:spPr>
      </p:sp>
      <p:sp>
        <p:nvSpPr>
          <p:cNvPr id="14" name="Shape 11"/>
          <p:cNvSpPr/>
          <p:nvPr/>
        </p:nvSpPr>
        <p:spPr>
          <a:xfrm>
            <a:off x="5581650" y="1981200"/>
            <a:ext cx="1365250" cy="381000"/>
          </a:xfrm>
          <a:prstGeom prst="roundRect">
            <a:avLst>
              <a:gd name="adj" fmla="val 28800"/>
            </a:avLst>
          </a:prstGeom>
          <a:solidFill>
            <a:srgbClr val="FBFBF8"/>
          </a:solidFill>
          <a:ln w="19050">
            <a:solidFill>
              <a:srgbClr val="1C1E2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81650" y="1981200"/>
            <a:ext cx="1365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+ revisão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023100" y="2108200"/>
            <a:ext cx="228600" cy="127000"/>
          </a:xfrm>
          <a:prstGeom prst="rightArrow">
            <a:avLst/>
          </a:prstGeom>
          <a:solidFill>
            <a:srgbClr val="6B6F76"/>
          </a:solidFill>
          <a:ln/>
        </p:spPr>
      </p:sp>
      <p:sp>
        <p:nvSpPr>
          <p:cNvPr id="17" name="Shape 14"/>
          <p:cNvSpPr/>
          <p:nvPr/>
        </p:nvSpPr>
        <p:spPr>
          <a:xfrm>
            <a:off x="7327900" y="1981200"/>
            <a:ext cx="717550" cy="381000"/>
          </a:xfrm>
          <a:prstGeom prst="roundRect">
            <a:avLst>
              <a:gd name="adj" fmla="val 28800"/>
            </a:avLst>
          </a:prstGeom>
          <a:solidFill>
            <a:srgbClr val="FBFBF8"/>
          </a:solidFill>
          <a:ln w="19050">
            <a:solidFill>
              <a:srgbClr val="1C1E2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27900" y="1981200"/>
            <a:ext cx="71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121650" y="2108200"/>
            <a:ext cx="228600" cy="127000"/>
          </a:xfrm>
          <a:prstGeom prst="rightArrow">
            <a:avLst/>
          </a:prstGeom>
          <a:solidFill>
            <a:srgbClr val="6B6F76"/>
          </a:solidFill>
          <a:ln/>
        </p:spPr>
      </p:sp>
      <p:sp>
        <p:nvSpPr>
          <p:cNvPr id="20" name="Shape 17"/>
          <p:cNvSpPr/>
          <p:nvPr/>
        </p:nvSpPr>
        <p:spPr>
          <a:xfrm>
            <a:off x="8426450" y="1981200"/>
            <a:ext cx="1549400" cy="381000"/>
          </a:xfrm>
          <a:prstGeom prst="roundRect">
            <a:avLst>
              <a:gd name="adj" fmla="val 28800"/>
            </a:avLst>
          </a:prstGeom>
          <a:solidFill>
            <a:srgbClr val="1C1E2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426450" y="1981200"/>
            <a:ext cx="1549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EAP atualizada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12800" y="2730500"/>
            <a:ext cx="5181600" cy="2667000"/>
          </a:xfrm>
          <a:prstGeom prst="roundRect">
            <a:avLst>
              <a:gd name="adj" fmla="val 1714"/>
            </a:avLst>
          </a:prstGeom>
          <a:solidFill>
            <a:srgbClr val="FBFBF8"/>
          </a:solidFill>
          <a:ln/>
        </p:spPr>
      </p:sp>
      <p:sp>
        <p:nvSpPr>
          <p:cNvPr id="23" name="Shape 20"/>
          <p:cNvSpPr/>
          <p:nvPr/>
        </p:nvSpPr>
        <p:spPr>
          <a:xfrm>
            <a:off x="812800" y="2730500"/>
            <a:ext cx="38100" cy="2667000"/>
          </a:xfrm>
          <a:prstGeom prst="rect">
            <a:avLst/>
          </a:prstGeom>
          <a:solidFill>
            <a:srgbClr val="1C1E2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41400" y="2959100"/>
            <a:ext cx="4724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de entregas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041400" y="3365500"/>
            <a:ext cx="47244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A3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entrega ligada ao commit e ao pacote da EAP — da refatoração para Vue 3 (ago) até o painel admin e a F6 (out).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197600" y="2730500"/>
            <a:ext cx="5181600" cy="2667000"/>
          </a:xfrm>
          <a:prstGeom prst="roundRect">
            <a:avLst>
              <a:gd name="adj" fmla="val 1714"/>
            </a:avLst>
          </a:prstGeom>
          <a:solidFill>
            <a:srgbClr val="FBFBF8"/>
          </a:solidFill>
          <a:ln/>
        </p:spPr>
      </p:sp>
      <p:sp>
        <p:nvSpPr>
          <p:cNvPr id="27" name="Shape 24"/>
          <p:cNvSpPr/>
          <p:nvPr/>
        </p:nvSpPr>
        <p:spPr>
          <a:xfrm>
            <a:off x="6197600" y="2730500"/>
            <a:ext cx="38100" cy="2667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26200" y="2959100"/>
            <a:ext cx="4724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de problemas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26200" y="3365500"/>
            <a:ext cx="4724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na porta errada (MariaDB) → porta 5433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bloqueadas por hotlink → imagens locais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Segredo do JWT fixo no código → obrigatório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12800" y="62484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Chiquinho Motors® · docs/gerenciamento/03-Execucao/Orientar-e-Gerenciar-Execucao.md — 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· MONITORAMENTO E CONTROLE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049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MONITORAR E CONTROLAR O TRABALHO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2667000"/>
            <a:ext cx="330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10000" dirty="0"/>
          </a:p>
        </p:txBody>
      </p:sp>
      <p:sp>
        <p:nvSpPr>
          <p:cNvPr id="6" name="Text 3"/>
          <p:cNvSpPr txBox="1"/>
          <p:nvPr/>
        </p:nvSpPr>
        <p:spPr>
          <a:xfrm>
            <a:off x="812800" y="4127500"/>
            <a:ext cx="330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pacotes de produto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2800" y="4445000"/>
            <a:ext cx="3302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9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desempenho nº 2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45000" y="1981200"/>
            <a:ext cx="6934200" cy="1079500"/>
          </a:xfrm>
          <a:prstGeom prst="roundRect">
            <a:avLst>
              <a:gd name="adj" fmla="val 4235"/>
            </a:avLst>
          </a:prstGeom>
          <a:solidFill>
            <a:srgbClr val="1C1E22"/>
          </a:solidFill>
          <a:ln/>
        </p:spPr>
      </p:sp>
      <p:sp>
        <p:nvSpPr>
          <p:cNvPr id="9" name="Shape 6"/>
          <p:cNvSpPr/>
          <p:nvPr/>
        </p:nvSpPr>
        <p:spPr>
          <a:xfrm>
            <a:off x="4445000" y="1981200"/>
            <a:ext cx="38100" cy="10795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48200" y="2146300"/>
            <a:ext cx="652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648200" y="2413000"/>
            <a:ext cx="6527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Lint, testes e CI da F0 atrasaram cerca de 7 semanas.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445000" y="3187700"/>
            <a:ext cx="6934200" cy="1079500"/>
          </a:xfrm>
          <a:prstGeom prst="roundRect">
            <a:avLst>
              <a:gd name="adj" fmla="val 4235"/>
            </a:avLst>
          </a:prstGeom>
          <a:solidFill>
            <a:srgbClr val="1C1E22"/>
          </a:solidFill>
          <a:ln/>
        </p:spPr>
      </p:sp>
      <p:sp>
        <p:nvSpPr>
          <p:cNvPr id="13" name="Shape 10"/>
          <p:cNvSpPr/>
          <p:nvPr/>
        </p:nvSpPr>
        <p:spPr>
          <a:xfrm>
            <a:off x="4445000" y="3187700"/>
            <a:ext cx="38100" cy="1079500"/>
          </a:xfrm>
          <a:prstGeom prst="rect">
            <a:avLst/>
          </a:prstGeom>
          <a:solidFill>
            <a:srgbClr val="C8CCD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48200" y="3352800"/>
            <a:ext cx="652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CORRETIVA A1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648200" y="3619500"/>
            <a:ext cx="6527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Fechar a F0 antes de começar o carrinho: hoje são 94 testes no CI.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445000" y="4394200"/>
            <a:ext cx="6934200" cy="1079500"/>
          </a:xfrm>
          <a:prstGeom prst="roundRect">
            <a:avLst>
              <a:gd name="adj" fmla="val 4235"/>
            </a:avLst>
          </a:prstGeom>
          <a:solidFill>
            <a:srgbClr val="1C1E22"/>
          </a:solidFill>
          <a:ln/>
        </p:spPr>
      </p:sp>
      <p:sp>
        <p:nvSpPr>
          <p:cNvPr id="17" name="Shape 14"/>
          <p:cNvSpPr/>
          <p:nvPr/>
        </p:nvSpPr>
        <p:spPr>
          <a:xfrm>
            <a:off x="4445000" y="4394200"/>
            <a:ext cx="38100" cy="1079500"/>
          </a:xfrm>
          <a:prstGeom prst="rect">
            <a:avLst/>
          </a:prstGeom>
          <a:solidFill>
            <a:srgbClr val="C8CCD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48200" y="4559300"/>
            <a:ext cx="652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648200" y="4826000"/>
            <a:ext cx="6527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F3, F4 e F5 ficaram prontas semanas antes do início planejado.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12800" y="62484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Chiquinho Motors® · docs/gerenciamento/04-Monitoramento-e-Controle/Monitorar-e-Controlar-o-Trabalho.md —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· MONITORAMENTO E CONTROLE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049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INTEGRADO DE MUDANÇAS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2800" y="1905000"/>
            <a:ext cx="1270000" cy="381000"/>
          </a:xfrm>
          <a:prstGeom prst="roundRect">
            <a:avLst>
              <a:gd name="adj" fmla="val 28800"/>
            </a:avLst>
          </a:prstGeom>
          <a:solidFill>
            <a:srgbClr val="FBFBF8"/>
          </a:solidFill>
          <a:ln w="19050">
            <a:solidFill>
              <a:srgbClr val="1C1E2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2800" y="1905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Solicitação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159000" y="2032000"/>
            <a:ext cx="228600" cy="127000"/>
          </a:xfrm>
          <a:prstGeom prst="rightArrow">
            <a:avLst/>
          </a:prstGeom>
          <a:solidFill>
            <a:srgbClr val="6B6F76"/>
          </a:solidFill>
          <a:ln/>
        </p:spPr>
      </p:sp>
      <p:sp>
        <p:nvSpPr>
          <p:cNvPr id="8" name="Shape 5"/>
          <p:cNvSpPr/>
          <p:nvPr/>
        </p:nvSpPr>
        <p:spPr>
          <a:xfrm>
            <a:off x="2463800" y="1905000"/>
            <a:ext cx="1917700" cy="381000"/>
          </a:xfrm>
          <a:prstGeom prst="roundRect">
            <a:avLst>
              <a:gd name="adj" fmla="val 28800"/>
            </a:avLst>
          </a:prstGeom>
          <a:solidFill>
            <a:srgbClr val="FBFBF8"/>
          </a:solidFill>
          <a:ln w="19050">
            <a:solidFill>
              <a:srgbClr val="1C1E2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63800" y="1905000"/>
            <a:ext cx="1917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impacto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57700" y="2032000"/>
            <a:ext cx="228600" cy="127000"/>
          </a:xfrm>
          <a:prstGeom prst="rightArrow">
            <a:avLst/>
          </a:prstGeom>
          <a:solidFill>
            <a:srgbClr val="6B6F76"/>
          </a:solidFill>
          <a:ln/>
        </p:spPr>
      </p:sp>
      <p:sp>
        <p:nvSpPr>
          <p:cNvPr id="11" name="Shape 8"/>
          <p:cNvSpPr/>
          <p:nvPr/>
        </p:nvSpPr>
        <p:spPr>
          <a:xfrm>
            <a:off x="4762500" y="1905000"/>
            <a:ext cx="2660650" cy="381000"/>
          </a:xfrm>
          <a:prstGeom prst="roundRect">
            <a:avLst>
              <a:gd name="adj" fmla="val 28800"/>
            </a:avLst>
          </a:prstGeom>
          <a:solidFill>
            <a:srgbClr val="C0392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762500" y="1905000"/>
            <a:ext cx="2660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Decisão: gerente ou comitê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99350" y="2032000"/>
            <a:ext cx="228600" cy="127000"/>
          </a:xfrm>
          <a:prstGeom prst="rightArrow">
            <a:avLst/>
          </a:prstGeom>
          <a:solidFill>
            <a:srgbClr val="6B6F76"/>
          </a:solidFill>
          <a:ln/>
        </p:spPr>
      </p:sp>
      <p:sp>
        <p:nvSpPr>
          <p:cNvPr id="14" name="Shape 11"/>
          <p:cNvSpPr/>
          <p:nvPr/>
        </p:nvSpPr>
        <p:spPr>
          <a:xfrm>
            <a:off x="7804150" y="1905000"/>
            <a:ext cx="2660650" cy="381000"/>
          </a:xfrm>
          <a:prstGeom prst="roundRect">
            <a:avLst>
              <a:gd name="adj" fmla="val 28800"/>
            </a:avLst>
          </a:prstGeom>
          <a:solidFill>
            <a:srgbClr val="1C1E2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04150" y="1905000"/>
            <a:ext cx="2660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 de base atualizadas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514600"/>
          <a:ext cx="10566400" cy="914400"/>
        </p:xfrm>
        <a:graphic>
          <a:graphicData uri="http://schemas.openxmlformats.org/drawingml/2006/table">
            <a:tbl>
              <a:tblPr/>
              <a:tblGrid>
                <a:gridCol w="1267968"/>
                <a:gridCol w="6128512"/>
                <a:gridCol w="316992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Mudança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E2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CR-02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Peça e acessório num só modelo de dados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CR-05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Antecipar o login do painel administrativo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Aprovada com condições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CR-08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 da agenda segue a duração do serviço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CR-07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Contingência de prazo (F4 como protótipo)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Encerrada sem uso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CR-10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Hospedar site e API no Coolify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812800" y="47752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mudanças registradas</a:t>
            </a:r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5 delas acima; o log completo está no repositório.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812800" y="62484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Chiquinho Motors® · docs/gerenciamento/04-Monitoramento-e-Controle/Controle-Integrado-de-Mudancas.md —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· VERIFICAR O ESCOPO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049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 FORMAL DAS ENTREGAS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18923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+ checklist </a:t>
            </a:r>
            <a:pPr indent="0" marL="0">
              <a:buNone/>
            </a:pPr>
            <a:r>
              <a:rPr lang="en-US" sz="1500" b="1" dirty="0">
                <a:solidFill>
                  <a:srgbClr val="F4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“Pronto quando”</a:t>
            </a:r>
            <a:pPr indent="0" marL="0">
              <a:buNone/>
            </a:pPr>
            <a:r>
              <a:rPr lang="en-US" sz="15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testes automatizados.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349500"/>
          <a:ext cx="10566400" cy="914400"/>
        </p:xfrm>
        <a:graphic>
          <a:graphicData uri="http://schemas.openxmlformats.org/drawingml/2006/table">
            <a:tbl>
              <a:tblPr/>
              <a:tblGrid>
                <a:gridCol w="845312"/>
                <a:gridCol w="4226560"/>
                <a:gridCol w="5494528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Entrega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3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Fundação técnica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Aceita, depois da ação corretiva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Persistência e veículos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Aceita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Peças e acessórios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Aceita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Carrinho e pedido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Aceita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Agendamento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Aceita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Painel administrativo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Aceita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C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Qualidade e publicação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C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Parcial: falta a URL pública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C19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Documentação PMBOK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CCD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Aceite formal nesta apresentação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12800" y="62484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Chiquinho Motors® · docs/gerenciamento/04-Monitoramento-e-Controle/Verificar-Escopo.md —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rgbClr val="B03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· CONTROLAR O ESCOPO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049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VARIAÇÃO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2286000"/>
            <a:ext cx="2286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0" dirty="0"/>
          </a:p>
        </p:txBody>
      </p:sp>
      <p:sp>
        <p:nvSpPr>
          <p:cNvPr id="6" name="Text 3"/>
          <p:cNvSpPr txBox="1"/>
          <p:nvPr/>
        </p:nvSpPr>
        <p:spPr>
          <a:xfrm>
            <a:off x="812800" y="3937000"/>
            <a:ext cx="241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mudanças sem registro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12800" y="45212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diferença tem um CR ou uma ação corretiva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4400" y="2413000"/>
          <a:ext cx="7924800" cy="914400"/>
        </p:xfrm>
        <a:graphic>
          <a:graphicData uri="http://schemas.openxmlformats.org/drawingml/2006/table">
            <a:tbl>
              <a:tblPr/>
              <a:tblGrid>
                <a:gridCol w="2218944"/>
                <a:gridCol w="2060448"/>
                <a:gridCol w="2218944"/>
                <a:gridCol w="1426464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Planejado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Tratado por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E22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Peças e acessórios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duas tabelas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 só modelo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CR-02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Swagger da API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 F2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adiado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CR-04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Lint, testes e CI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 F0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semanas depois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A1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Ordem das fases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F3 → F4 → F5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 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CR-05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 da agenda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slots de 30 min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duração do serviço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CR-08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12800" y="62484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Chiquinho Motors® · docs/gerenciamento/04-Monitoramento-e-Controle/Controlar-Escopo.md —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03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rgbClr val="FB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· ENCERRAR O PROJETO OU FASE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11049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LIÇÕES E PRÓXIMOS PASSOS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1955800"/>
            <a:ext cx="5130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Lições aprendidas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12800" y="2362200"/>
            <a:ext cx="5130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B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no começo da fase acelera, não atrasa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B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críticas pedem testes com acessos simultâneos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B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com a ferramenta do critério de aceite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248400" y="1955800"/>
            <a:ext cx="5130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248400" y="2362200"/>
            <a:ext cx="5130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B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seguindo o guia de deploy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B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 da E7 e da documentação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B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v1.0.0 e termo de encerramento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12800" y="50800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 PERGUNTAS?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812800" y="62484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B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github.com/LuizMottaX/Gerencia-de-Projetos — 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Chiquinho Motors — 2ª Apresentação</dc:title>
  <dc:subject>Gerenciamento da Integração e do Escopo — PMBOK</dc:subject>
  <dc:creator>Francisco de Julio Faria, Luiz Henrique Mota, Alex Pablo de Oliveira Moraes</dc:creator>
  <cp:lastModifiedBy>Francisco de Julio Faria, Luiz Henrique Mota, Alex Pablo de Oliveira Moraes</cp:lastModifiedBy>
  <cp:revision>1</cp:revision>
  <dcterms:created xsi:type="dcterms:W3CDTF">2026-10-15T16:42:43Z</dcterms:created>
  <dcterms:modified xsi:type="dcterms:W3CDTF">2026-10-15T16:42:43Z</dcterms:modified>
</cp:coreProperties>
</file>
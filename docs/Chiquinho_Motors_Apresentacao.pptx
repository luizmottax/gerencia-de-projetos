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E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1463040"/>
            <a:ext cx="10515600" cy="393192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</a:rPr>
              <a:t>🏎  CHIQUINHO MOTORS®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788920"/>
            <a:ext cx="6400800" cy="50800"/>
          </a:xfrm>
          <a:prstGeom prst="rect">
            <a:avLst/>
          </a:prstGeom>
          <a:solidFill>
            <a:srgbClr val="E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8803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B0B0B0"/>
                </a:solidFill>
              </a:rPr>
              <a:t>Sistema Integrado de Gestão para Concessionária Automotiva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66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0B0"/>
                </a:solidFill>
              </a:rPr>
              <a:t>Gerência de Projetos  ·  Sistemas de Informação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12064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0B0"/>
                </a:solidFill>
              </a:rPr>
              <a:t>Francisco de Julio Faria   |   Luiz Henrique Mota   |   Alex Pablo de Oliveira Moraes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5778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0B0"/>
                </a:solidFill>
              </a:rPr>
              <a:t>Setembro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88952" cy="411480"/>
          </a:xfrm>
          <a:prstGeom prst="rect">
            <a:avLst/>
          </a:prstGeom>
          <a:solidFill>
            <a:srgbClr val="E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64031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0B0B0"/>
                </a:solidFill>
              </a:rPr>
              <a:t>CONTEXTO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O Problema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1274552" cy="19050"/>
          </a:xfrm>
          <a:prstGeom prst="rect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554480"/>
            <a:ext cx="3566160" cy="228600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554480"/>
            <a:ext cx="3566160" cy="50800"/>
          </a:xfrm>
          <a:prstGeom prst="rect">
            <a:avLst/>
          </a:prstGeom>
          <a:solidFill>
            <a:srgbClr val="E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0101A"/>
                </a:solidFill>
              </a:rPr>
              <a:t>GESTÃO FRAGMENTADA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8600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B0B0"/>
                </a:solidFill>
              </a:rPr>
              <a:t>Veículos, peças e serviços
em planilhas isoladas.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1554480"/>
            <a:ext cx="3566160" cy="228600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554480"/>
            <a:ext cx="3566160" cy="50800"/>
          </a:xfrm>
          <a:prstGeom prst="rect">
            <a:avLst/>
          </a:prstGeom>
          <a:solidFill>
            <a:srgbClr val="E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169164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0101A"/>
                </a:solidFill>
              </a:rPr>
              <a:t>ZERO VISIBILIDADE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28600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B0B0"/>
                </a:solidFill>
              </a:rPr>
              <a:t>Sem controle de estoque,
compatibilidade ou agendas.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83880" y="1554480"/>
            <a:ext cx="3566160" cy="228600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83880" y="1554480"/>
            <a:ext cx="3566160" cy="50800"/>
          </a:xfrm>
          <a:prstGeom prst="rect">
            <a:avLst/>
          </a:prstGeom>
          <a:solidFill>
            <a:srgbClr val="E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69164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0101A"/>
                </a:solidFill>
              </a:rPr>
              <a:t>EXPERIÊNCIA RUIM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28600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B0B0"/>
                </a:solidFill>
              </a:rPr>
              <a:t>Clientes sem canal digital
para comprar ou agendar.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75488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FFC400"/>
                </a:solidFill>
              </a:rPr>
              <a:t>"Concessionárias que operam sem sistema integrado perdem até 30% das oportunidades de venda de peças e serviços." — Setor automotivo BR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88952" cy="411480"/>
          </a:xfrm>
          <a:prstGeom prst="rect">
            <a:avLst/>
          </a:prstGeom>
          <a:solidFill>
            <a:srgbClr val="E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64031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0B0B0"/>
                </a:solidFill>
              </a:rPr>
              <a:t>SOLUÇÃO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A Solução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1274552" cy="19050"/>
          </a:xfrm>
          <a:prstGeom prst="rect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600200"/>
            <a:ext cx="5577840" cy="178308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</a:rPr>
              <a:t>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78308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Veículos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28600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0B0"/>
                </a:solidFill>
              </a:rPr>
              <a:t>Catálogo completo com
fotos, especificações e preços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5080" y="1600200"/>
            <a:ext cx="5577840" cy="178308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8288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</a:rPr>
              <a:t>⚙️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178308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Auto-Peças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228600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0B0"/>
                </a:solidFill>
              </a:rPr>
              <a:t>Filtragem por modelo,
categoria e compatibilidade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703320"/>
            <a:ext cx="5577840" cy="178308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93192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</a:rPr>
              <a:t>🏎️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88620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Acessórios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438912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0B0"/>
                </a:solidFill>
              </a:rPr>
              <a:t>Catálogo com busca
avançada e detalhes técnicos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5080" y="3703320"/>
            <a:ext cx="5577840" cy="178308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393192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</a:rPr>
              <a:t>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388620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Serviços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438912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0B0"/>
                </a:solidFill>
              </a:rPr>
              <a:t>Agendamento online de
manutenção e revisão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88952" cy="411480"/>
          </a:xfrm>
          <a:prstGeom prst="rect">
            <a:avLst/>
          </a:prstGeom>
          <a:solidFill>
            <a:srgbClr val="E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64031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0B0B0"/>
                </a:solidFill>
              </a:rPr>
              <a:t>ARQUITETURA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Arquitetura Técnica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1274552" cy="19050"/>
          </a:xfrm>
          <a:prstGeom prst="rect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600200"/>
            <a:ext cx="3520440" cy="347472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600200"/>
            <a:ext cx="3520440" cy="63500"/>
          </a:xfrm>
          <a:prstGeom prst="rect">
            <a:avLst/>
          </a:prstGeom>
          <a:solidFill>
            <a:srgbClr val="A000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3154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0000D"/>
                </a:solidFill>
              </a:rPr>
              <a:t>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86000"/>
            <a:ext cx="3154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0B0"/>
                </a:solidFill>
              </a:rPr>
              <a:t>Vue 3 + Vite
Vue Router
Pinia
CSS Vanilla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29260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E0101A"/>
                </a:solidFill>
              </a:rPr>
              <a:t>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600200"/>
            <a:ext cx="3520440" cy="347472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600200"/>
            <a:ext cx="3520440" cy="63500"/>
          </a:xfrm>
          <a:prstGeom prst="rect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1691640"/>
            <a:ext cx="3154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A4A4A"/>
                </a:solidFill>
              </a:rPr>
              <a:t>BACKEND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286000"/>
            <a:ext cx="3154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0B0"/>
                </a:solidFill>
              </a:rPr>
              <a:t>Node.js + Express
Zod · Helmet
Rate-Limit
REST 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29260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E0101A"/>
                </a:solidFill>
              </a:rPr>
              <a:t>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1600200"/>
            <a:ext cx="3520440" cy="347472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1600200"/>
            <a:ext cx="3520440" cy="6350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1691640"/>
            <a:ext cx="3154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C2C2C"/>
                </a:solidFill>
              </a:rPr>
              <a:t>BANCO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286000"/>
            <a:ext cx="3154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0B0"/>
                </a:solidFill>
              </a:rPr>
              <a:t>PostgreSQL 18
Prisma ORM
Coolify / Hetzner
Migrações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2578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B0B0B0"/>
                </a:solidFill>
              </a:rPr>
              <a:t>Proxy Vite: chamadas /api/* redirecionadas para :3001 — CORS gerenciado automaticamente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88952" cy="411480"/>
          </a:xfrm>
          <a:prstGeom prst="rect">
            <a:avLst/>
          </a:prstGeom>
          <a:solidFill>
            <a:srgbClr val="E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64031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0B0B0"/>
                </a:solidFill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Roadmap do Projeto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1274552" cy="19050"/>
          </a:xfrm>
          <a:prstGeom prst="rect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3063240"/>
            <a:ext cx="11274552" cy="73152"/>
          </a:xfrm>
          <a:prstGeom prst="rect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60120" y="2788920"/>
            <a:ext cx="594360" cy="594360"/>
          </a:xfrm>
          <a:prstGeom prst="rect">
            <a:avLst/>
          </a:prstGeom>
          <a:solidFill>
            <a:srgbClr val="E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78892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F1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520440"/>
            <a:ext cx="1783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B0B0"/>
                </a:solidFill>
              </a:rPr>
              <a:t>Persistência
PostgreSQL + Prisma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80360" y="2788920"/>
            <a:ext cx="594360" cy="594360"/>
          </a:xfrm>
          <a:prstGeom prst="rect">
            <a:avLst/>
          </a:prstGeom>
          <a:solidFill>
            <a:srgbClr val="E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80360" y="278892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F2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3520440"/>
            <a:ext cx="1783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B0B0"/>
                </a:solidFill>
              </a:rPr>
              <a:t>Catálogo
Peças &amp; Acessórios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00600" y="2788920"/>
            <a:ext cx="594360" cy="594360"/>
          </a:xfrm>
          <a:prstGeom prst="rect">
            <a:avLst/>
          </a:prstGeom>
          <a:solidFill>
            <a:srgbClr val="FF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78892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F3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3520440"/>
            <a:ext cx="1783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B0B0"/>
                </a:solidFill>
              </a:rPr>
              <a:t>Carrinho
&amp; Checkout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20840" y="2788920"/>
            <a:ext cx="594360" cy="594360"/>
          </a:xfrm>
          <a:prstGeom prst="rect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20840" y="278892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F4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3520440"/>
            <a:ext cx="1783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B0B0"/>
                </a:solidFill>
              </a:rPr>
              <a:t>Serviços &amp;
Agendamento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41080" y="2788920"/>
            <a:ext cx="594360" cy="594360"/>
          </a:xfrm>
          <a:prstGeom prst="rect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41080" y="278892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F5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3520440"/>
            <a:ext cx="1783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B0B0"/>
                </a:solidFill>
              </a:rPr>
              <a:t>Área
Administrativa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561320" y="2788920"/>
            <a:ext cx="594360" cy="594360"/>
          </a:xfrm>
          <a:prstGeom prst="rect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61320" y="278892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F6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0" y="3520440"/>
            <a:ext cx="1783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B0B0"/>
                </a:solidFill>
              </a:rPr>
              <a:t>Qualidade &amp;
Publicação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303520"/>
            <a:ext cx="274320" cy="274320"/>
          </a:xfrm>
          <a:prstGeom prst="rect">
            <a:avLst/>
          </a:prstGeom>
          <a:solidFill>
            <a:srgbClr val="E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27608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0B0"/>
                </a:solidFill>
              </a:rPr>
              <a:t>Concluído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303520"/>
            <a:ext cx="274320" cy="274320"/>
          </a:xfrm>
          <a:prstGeom prst="rect">
            <a:avLst/>
          </a:prstGeom>
          <a:solidFill>
            <a:srgbClr val="FF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527608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0B0"/>
                </a:solidFill>
              </a:rPr>
              <a:t>Em andamento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303520"/>
            <a:ext cx="274320" cy="274320"/>
          </a:xfrm>
          <a:prstGeom prst="rect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527608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0B0"/>
                </a:solidFill>
              </a:rPr>
              <a:t>Planejado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0" y="5394960"/>
            <a:ext cx="256032" cy="256032"/>
          </a:xfrm>
          <a:prstGeom prst="rect">
            <a:avLst/>
          </a:prstGeom>
          <a:solidFill>
            <a:srgbClr val="E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20440" y="5358384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0B0"/>
                </a:solidFill>
              </a:rPr>
              <a:t>Concluído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0" y="5394960"/>
            <a:ext cx="256032" cy="256032"/>
          </a:xfrm>
          <a:prstGeom prst="rect">
            <a:avLst/>
          </a:prstGeom>
          <a:solidFill>
            <a:srgbClr val="FF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89320" y="5358384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0B0"/>
                </a:solidFill>
              </a:rPr>
              <a:t>Em andamento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38160" y="5394960"/>
            <a:ext cx="256032" cy="256032"/>
          </a:xfrm>
          <a:prstGeom prst="rect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58200" y="5358384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0B0"/>
                </a:solidFill>
              </a:rPr>
              <a:t>Planejado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88952" cy="411480"/>
          </a:xfrm>
          <a:prstGeom prst="rect">
            <a:avLst/>
          </a:prstGeom>
          <a:solidFill>
            <a:srgbClr val="E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64031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0B0B0"/>
                </a:solidFill>
              </a:rPr>
              <a:t>DIFERENCIAIS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Por que Chiquinho Motors?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1274552" cy="19050"/>
          </a:xfrm>
          <a:prstGeom prst="rect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600200"/>
            <a:ext cx="5577840" cy="123444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600200"/>
            <a:ext cx="76200" cy="1234440"/>
          </a:xfrm>
          <a:prstGeom prst="rect">
            <a:avLst/>
          </a:prstGeom>
          <a:solidFill>
            <a:srgbClr val="E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Compatibilidade Inteligente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03120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0B0"/>
                </a:solidFill>
              </a:rPr>
              <a:t>Peças e acessórios vinculados aos modelos de veículo — sem erro de compra.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5080" y="1600200"/>
            <a:ext cx="5577840" cy="123444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600200"/>
            <a:ext cx="76200" cy="1234440"/>
          </a:xfrm>
          <a:prstGeom prst="rect">
            <a:avLst/>
          </a:prstGeom>
          <a:solidFill>
            <a:srgbClr val="E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16916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Full-Stack Moderno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103120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0B0"/>
                </a:solidFill>
              </a:rPr>
              <a:t>Vue 3 + Node.js + PostgreSQL: arquitetura escalável e de baixo custo.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063240"/>
            <a:ext cx="5577840" cy="123444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063240"/>
            <a:ext cx="76200" cy="1234440"/>
          </a:xfrm>
          <a:prstGeom prst="rect">
            <a:avLst/>
          </a:prstGeom>
          <a:solidFill>
            <a:srgbClr val="E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15468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API REST Extensível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566160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0B0"/>
                </a:solidFill>
              </a:rPr>
              <a:t>10+ endpoints documentados — pronto para integrar com ERPs e marketplaces.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5080" y="3063240"/>
            <a:ext cx="5577840" cy="123444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5080" y="3063240"/>
            <a:ext cx="76200" cy="1234440"/>
          </a:xfrm>
          <a:prstGeom prst="rect">
            <a:avLst/>
          </a:prstGeom>
          <a:solidFill>
            <a:srgbClr val="E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315468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UX Carbon &amp; Racing Red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3566160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0B0"/>
                </a:solidFill>
              </a:rPr>
              <a:t>Identidade visual exclusiva, dark mode nativo, sem dependências CSS externas.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526280"/>
            <a:ext cx="5577840" cy="123444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4526280"/>
            <a:ext cx="76200" cy="1234440"/>
          </a:xfrm>
          <a:prstGeom prst="rect">
            <a:avLst/>
          </a:prstGeom>
          <a:solidFill>
            <a:srgbClr val="E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6177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Deploy Cloud-Ready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029200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0B0"/>
                </a:solidFill>
              </a:rPr>
              <a:t>BD no Coolify/Hetzner + frontend Vercel + backend Railway: zero infraestrutura local.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5080" y="4526280"/>
            <a:ext cx="5577840" cy="123444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4526280"/>
            <a:ext cx="76200" cy="1234440"/>
          </a:xfrm>
          <a:prstGeom prst="rect">
            <a:avLst/>
          </a:prstGeom>
          <a:solidFill>
            <a:srgbClr val="E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37960" y="46177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Gestão de Projetos (PMBOK)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5029200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0B0"/>
                </a:solidFill>
              </a:rPr>
              <a:t>Ciclo completo F0–F6: escopo, EAP, riscos, monitoramento e encerramento documentados.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88952" cy="411480"/>
          </a:xfrm>
          <a:prstGeom prst="rect">
            <a:avLst/>
          </a:prstGeom>
          <a:solidFill>
            <a:srgbClr val="E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64031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0B0B0"/>
                </a:solidFill>
              </a:rPr>
              <a:t>PROPOSTA DE VALOR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Números que Convencem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1274552" cy="19050"/>
          </a:xfrm>
          <a:prstGeom prst="rect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645920"/>
            <a:ext cx="2606040" cy="228600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645920"/>
            <a:ext cx="2606040" cy="50800"/>
          </a:xfrm>
          <a:prstGeom prst="rect">
            <a:avLst/>
          </a:prstGeom>
          <a:solidFill>
            <a:srgbClr val="E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828800"/>
            <a:ext cx="2606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E0101A"/>
                </a:solidFill>
              </a:rPr>
              <a:t>10+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34640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B0B0B0"/>
                </a:solidFill>
              </a:rPr>
              <a:t>Endpoints REST
documentados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37560" y="1645920"/>
            <a:ext cx="2606040" cy="228600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37560" y="1645920"/>
            <a:ext cx="2606040" cy="50800"/>
          </a:xfrm>
          <a:prstGeom prst="rect">
            <a:avLst/>
          </a:prstGeom>
          <a:solidFill>
            <a:srgbClr val="E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37560" y="1828800"/>
            <a:ext cx="2606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E0101A"/>
                </a:solidFill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2834640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B0B0B0"/>
                </a:solidFill>
              </a:rPr>
              <a:t>Módulos de negócio
integrados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645920"/>
            <a:ext cx="2606040" cy="228600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645920"/>
            <a:ext cx="2606040" cy="50800"/>
          </a:xfrm>
          <a:prstGeom prst="rect">
            <a:avLst/>
          </a:prstGeom>
          <a:solidFill>
            <a:srgbClr val="E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1828800"/>
            <a:ext cx="2606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E0101A"/>
                </a:solidFill>
              </a:rPr>
              <a:t>100%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834640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B0B0B0"/>
                </a:solidFill>
              </a:rPr>
              <a:t>Banco de dados
relacional (PostgreSQL)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98280" y="1645920"/>
            <a:ext cx="2606040" cy="228600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98280" y="1645920"/>
            <a:ext cx="2606040" cy="50800"/>
          </a:xfrm>
          <a:prstGeom prst="rect">
            <a:avLst/>
          </a:prstGeom>
          <a:solidFill>
            <a:srgbClr val="E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98280" y="1828800"/>
            <a:ext cx="2606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E0101A"/>
                </a:solidFill>
              </a:rPr>
              <a:t>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2834640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B0B0B0"/>
                </a:solidFill>
              </a:rPr>
              <a:t>Fases de
entrega (PMBOK)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206240"/>
            <a:ext cx="11247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400" b="1">
                <a:solidFill>
                  <a:srgbClr val="E0101A"/>
                </a:solidFill>
              </a:rPr>
              <a:t>▸  </a:t>
            </a:r>
            <a:r>
              <a:rPr sz="1400">
                <a:solidFill>
                  <a:srgbClr val="FFFFFF"/>
                </a:solidFill>
              </a:rPr>
              <a:t>Reduz retrabalho com estoque e catálogo</a:t>
            </a:r>
          </a:p>
          <a:p>
            <a:pPr algn="l">
              <a:spcBef>
                <a:spcPts val="400"/>
              </a:spcBef>
            </a:pPr>
            <a:r>
              <a:rPr sz="1400" b="1">
                <a:solidFill>
                  <a:srgbClr val="E0101A"/>
                </a:solidFill>
              </a:rPr>
              <a:t>▸  </a:t>
            </a:r>
            <a:r>
              <a:rPr sz="1400">
                <a:solidFill>
                  <a:srgbClr val="FFFFFF"/>
                </a:solidFill>
              </a:rPr>
              <a:t>Transações seguras com controle de concorrência (transações Prisma)</a:t>
            </a:r>
          </a:p>
          <a:p>
            <a:pPr algn="l">
              <a:spcBef>
                <a:spcPts val="400"/>
              </a:spcBef>
            </a:pPr>
            <a:r>
              <a:rPr sz="1400" b="1">
                <a:solidFill>
                  <a:srgbClr val="E0101A"/>
                </a:solidFill>
              </a:rPr>
              <a:t>▸  </a:t>
            </a:r>
            <a:r>
              <a:rPr sz="1400">
                <a:solidFill>
                  <a:srgbClr val="FFFFFF"/>
                </a:solidFill>
              </a:rPr>
              <a:t>Preparado para crescimento: carrinho, admin e agendamento já planejados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88952" cy="411480"/>
          </a:xfrm>
          <a:prstGeom prst="rect">
            <a:avLst/>
          </a:prstGeom>
          <a:solidFill>
            <a:srgbClr val="E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64031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0B0B0"/>
                </a:solidFill>
              </a:rPr>
              <a:t>GERÊNCIA DE PROJETOS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Gestão PMBOK Aplicada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1274552" cy="19050"/>
          </a:xfrm>
          <a:prstGeom prst="rect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600200"/>
            <a:ext cx="2103120" cy="320040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600200"/>
            <a:ext cx="2103120" cy="50800"/>
          </a:xfrm>
          <a:prstGeom prst="rect">
            <a:avLst/>
          </a:prstGeom>
          <a:solidFill>
            <a:srgbClr val="E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69164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0101A"/>
                </a:solidFill>
              </a:rPr>
              <a:t>INICIAÇÃO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286000"/>
            <a:ext cx="1920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0B0"/>
                </a:solidFill>
              </a:rPr>
              <a:t>Termo de abertura
Registro de partes interessadas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61488" y="1600200"/>
            <a:ext cx="2103120" cy="320040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61488" y="1600200"/>
            <a:ext cx="2103120" cy="50800"/>
          </a:xfrm>
          <a:prstGeom prst="rect">
            <a:avLst/>
          </a:prstGeom>
          <a:solidFill>
            <a:srgbClr val="E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52928" y="169164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0101A"/>
                </a:solidFill>
              </a:rPr>
              <a:t>PLANEJAMENTO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52928" y="2286000"/>
            <a:ext cx="1920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0B0"/>
                </a:solidFill>
              </a:rPr>
              <a:t>EAP · Cronograma
Plano de riscos · Estimativa de horas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65776" y="1600200"/>
            <a:ext cx="2103120" cy="320040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65776" y="1600200"/>
            <a:ext cx="2103120" cy="50800"/>
          </a:xfrm>
          <a:prstGeom prst="rect">
            <a:avLst/>
          </a:prstGeom>
          <a:solidFill>
            <a:srgbClr val="E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57216" y="169164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0101A"/>
                </a:solidFill>
              </a:rPr>
              <a:t>EXECUÇÃO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57216" y="2286000"/>
            <a:ext cx="1920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0B0"/>
                </a:solidFill>
              </a:rPr>
              <a:t>1 PR por entrega
Checklist por fase
Controle de versão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70064" y="1600200"/>
            <a:ext cx="2103120" cy="320040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70064" y="1600200"/>
            <a:ext cx="2103120" cy="50800"/>
          </a:xfrm>
          <a:prstGeom prst="rect">
            <a:avLst/>
          </a:prstGeom>
          <a:solidFill>
            <a:srgbClr val="E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61504" y="169164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0101A"/>
                </a:solidFill>
              </a:rPr>
              <a:t>MONITORAMENTO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61504" y="2286000"/>
            <a:ext cx="1920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0B0"/>
                </a:solidFill>
              </a:rPr>
              <a:t>Critérios de aceitação
Controle de mudanças
% entregas concluídas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74352" y="1600200"/>
            <a:ext cx="2103120" cy="320040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674352" y="1600200"/>
            <a:ext cx="2103120" cy="50800"/>
          </a:xfrm>
          <a:prstGeom prst="rect">
            <a:avLst/>
          </a:prstGeom>
          <a:solidFill>
            <a:srgbClr val="E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65792" y="169164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0101A"/>
                </a:solidFill>
              </a:rPr>
              <a:t>ENCERRAMENTO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65792" y="2286000"/>
            <a:ext cx="1920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0B0"/>
                </a:solidFill>
              </a:rPr>
              <a:t>Termo de encerramento
Lições aprendidas
Deploy público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1206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B0B0B0"/>
                </a:solidFill>
              </a:rPr>
              <a:t>Artefatos em docs/gerenciamento/ — Iniciação, Planejamento, Execução, Monitoramento e Encerramento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88952" cy="411480"/>
          </a:xfrm>
          <a:prstGeom prst="rect">
            <a:avLst/>
          </a:prstGeom>
          <a:solidFill>
            <a:srgbClr val="E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64031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0B0B0"/>
                </a:solidFill>
              </a:rPr>
              <a:t>DEMONSTRAÇÃO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O Produto em Ação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1274552" cy="19050"/>
          </a:xfrm>
          <a:prstGeom prst="rect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600200"/>
            <a:ext cx="3566160" cy="3200400"/>
          </a:xfrm>
          <a:prstGeom prst="rect">
            <a:avLst/>
          </a:prstGeom>
          <a:solidFill>
            <a:srgbClr val="121212"/>
          </a:solidFill>
          <a:ln w="2540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600200"/>
            <a:ext cx="3566160" cy="27432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627632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0B0"/>
                </a:solidFill>
              </a:rPr>
              <a:t>● ● ●  localhost:5173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0116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0101A"/>
                </a:solidFill>
              </a:rPr>
              <a:t>🏠 Home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56032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0B0"/>
                </a:solidFill>
              </a:rPr>
              <a:t>Catálogo de veículos
com busca e filtros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600200"/>
            <a:ext cx="3566160" cy="3200400"/>
          </a:xfrm>
          <a:prstGeom prst="rect">
            <a:avLst/>
          </a:prstGeom>
          <a:solidFill>
            <a:srgbClr val="121212"/>
          </a:solidFill>
          <a:ln w="2540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600200"/>
            <a:ext cx="3566160" cy="27432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1627632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0B0"/>
                </a:solidFill>
              </a:rPr>
              <a:t>● ● ●  localhost:5173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0116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0101A"/>
                </a:solidFill>
              </a:rPr>
              <a:t>⚙️ Peças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256032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0B0"/>
                </a:solidFill>
              </a:rPr>
              <a:t>Grid com filtro por
modelo e categoria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1600200"/>
            <a:ext cx="3566160" cy="3200400"/>
          </a:xfrm>
          <a:prstGeom prst="rect">
            <a:avLst/>
          </a:prstGeom>
          <a:solidFill>
            <a:srgbClr val="121212"/>
          </a:solidFill>
          <a:ln w="2540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1600200"/>
            <a:ext cx="3566160" cy="27432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627632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0B0"/>
                </a:solidFill>
              </a:rPr>
              <a:t>● ● ●  localhost:5173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20116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0101A"/>
                </a:solidFill>
              </a:rPr>
              <a:t>📋 Detalhe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256032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0B0"/>
                </a:solidFill>
              </a:rPr>
              <a:t>Página de produto
com compatibilidade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1206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FFC400"/>
                </a:solidFill>
              </a:rPr>
              <a:t>★  Adicione capturas de tela reais do sistema para potencializar esta seção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88952" cy="411480"/>
          </a:xfrm>
          <a:prstGeom prst="rect">
            <a:avLst/>
          </a:prstGeom>
          <a:solidFill>
            <a:srgbClr val="E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64031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0B0B0"/>
                </a:solidFill>
              </a:rPr>
              <a:t>PRÓXIMOS PASSOS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O Que Vem Pela Frente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1274552" cy="19050"/>
          </a:xfrm>
          <a:prstGeom prst="rect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600200"/>
            <a:ext cx="11247120" cy="96012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600200"/>
            <a:ext cx="101600" cy="960120"/>
          </a:xfrm>
          <a:prstGeom prst="rect">
            <a:avLst/>
          </a:prstGeom>
          <a:solidFill>
            <a:srgbClr val="E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916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0101A"/>
                </a:solidFill>
              </a:rPr>
              <a:t>F3 – CARRINHO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169164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0B0"/>
                </a:solidFill>
              </a:rPr>
              <a:t>Loja completa: adicionar ao carrinho → checkout → pedido com código de rastreio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697480"/>
            <a:ext cx="11247120" cy="96012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697480"/>
            <a:ext cx="101600" cy="960120"/>
          </a:xfrm>
          <a:prstGeom prst="rect">
            <a:avLst/>
          </a:prstGeom>
          <a:solidFill>
            <a:srgbClr val="E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7889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0101A"/>
                </a:solidFill>
              </a:rPr>
              <a:t>F4 – AGENDAMENTO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278892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0B0"/>
                </a:solidFill>
              </a:rPr>
              <a:t>Reserva online de horário para serviços: calendário de slots disponíveis em tempo real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794760"/>
            <a:ext cx="11247120" cy="96012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794760"/>
            <a:ext cx="101600" cy="960120"/>
          </a:xfrm>
          <a:prstGeom prst="rect">
            <a:avLst/>
          </a:prstGeom>
          <a:solidFill>
            <a:srgbClr val="E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8862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0101A"/>
                </a:solidFill>
              </a:rPr>
              <a:t>F5 – ADMIN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388620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0B0"/>
                </a:solidFill>
              </a:rPr>
              <a:t>Painel administrativo protegido por JWT: CRUD de catálogo, pedidos e agenda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892040"/>
            <a:ext cx="11247120" cy="96012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4892040"/>
            <a:ext cx="101600" cy="960120"/>
          </a:xfrm>
          <a:prstGeom prst="rect">
            <a:avLst/>
          </a:prstGeom>
          <a:solidFill>
            <a:srgbClr val="E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9834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0101A"/>
                </a:solidFill>
              </a:rPr>
              <a:t>F6 – DEPLOY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17520" y="498348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0B0"/>
                </a:solidFill>
              </a:rPr>
              <a:t>CI/CD com GitHub Actions + Vercel (frontend) + Railway (backend) + URL pública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E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1463040"/>
            <a:ext cx="10515600" cy="393192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Chiquinho Motors®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743200"/>
            <a:ext cx="5486400" cy="50800"/>
          </a:xfrm>
          <a:prstGeom prst="rect">
            <a:avLst/>
          </a:prstGeom>
          <a:solidFill>
            <a:srgbClr val="E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8346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B0B0B0"/>
                </a:solidFill>
              </a:rPr>
              <a:t>Ecossistema digital completo para concessionárias modernas.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5760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C400"/>
                </a:solidFill>
              </a:rPr>
              <a:t>Obrigado! Perguntas?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02920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0B0"/>
                </a:solidFill>
              </a:rPr>
              <a:t>Francisco de Julio Faria   ·   Luiz Henrique Mota   ·   Alex Pablo de Oliveira Moraes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4864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0101A"/>
                </a:solidFill>
              </a:rPr>
              <a:t>github.com/LuizMottaX/Gerencia-de-Projetos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